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4"/>
  </p:sldMasterIdLst>
  <p:notesMasterIdLst>
    <p:notesMasterId r:id="rId1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61" autoAdjust="0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4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1025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97C0B-1E23-843B-B754-0D035EDA9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BE4A66-F4D7-AAD8-7AA8-B77FF9929A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4A4BA5-F05C-4381-FD49-C868D9ED87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ED2C07-3CC2-ED3E-94E8-F63C3B8350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059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1" y="0"/>
            <a:ext cx="1728788" cy="51435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7319" y="841772"/>
            <a:ext cx="6593681" cy="179070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7319" y="2701528"/>
            <a:ext cx="6593681" cy="1241822"/>
          </a:xfrm>
        </p:spPr>
        <p:txBody>
          <a:bodyPr>
            <a:normAutofit/>
          </a:bodyPr>
          <a:lstStyle>
            <a:lvl1pPr marL="0" indent="0" algn="l">
              <a:buNone/>
              <a:defRPr sz="1500" cap="all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08133" y="4057651"/>
            <a:ext cx="2057400" cy="273844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5/4/26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07318" y="4057651"/>
            <a:ext cx="3843665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22684" y="4057650"/>
            <a:ext cx="578317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4238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17556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064420"/>
            <a:ext cx="7429500" cy="2139553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318272"/>
            <a:ext cx="7429500" cy="1031082"/>
          </a:xfrm>
        </p:spPr>
        <p:txBody>
          <a:bodyPr>
            <a:normAutofit/>
          </a:bodyPr>
          <a:lstStyle>
            <a:lvl1pPr marL="0" indent="0">
              <a:buNone/>
              <a:defRPr sz="135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37623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1687114"/>
            <a:ext cx="3658792" cy="26562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687114"/>
            <a:ext cx="3656408" cy="26562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85815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64345"/>
            <a:ext cx="7429500" cy="110847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515" y="1687115"/>
            <a:ext cx="3487337" cy="61793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2305048"/>
            <a:ext cx="3658793" cy="2038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6" y="1687114"/>
            <a:ext cx="3484952" cy="61793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305048"/>
            <a:ext cx="3656408" cy="2038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5/4/26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10679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40760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5/4/26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15647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457201"/>
            <a:ext cx="2892028" cy="1229913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444499"/>
            <a:ext cx="4418407" cy="389890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1687114"/>
            <a:ext cx="2892028" cy="265628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24917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4450881" cy="122991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5541" y="457201"/>
            <a:ext cx="2750018" cy="38861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1687114"/>
            <a:ext cx="4450883" cy="265628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31773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3228499"/>
            <a:ext cx="7434266" cy="614516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454819"/>
            <a:ext cx="7434266" cy="2474834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4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3843015"/>
            <a:ext cx="7433144" cy="51185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17479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457200"/>
            <a:ext cx="7429466" cy="2571750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3314700"/>
            <a:ext cx="7428344" cy="1028699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98887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0"/>
            <a:ext cx="6977064" cy="2061322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524168"/>
            <a:ext cx="6564224" cy="41172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3232439"/>
            <a:ext cx="7429502" cy="1117122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677634" y="549295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03028" y="2073729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2067005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600531"/>
            <a:ext cx="7429501" cy="1883876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3493241"/>
            <a:ext cx="7428379" cy="855483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97774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7429499" cy="14287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005847"/>
            <a:ext cx="2397674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45939" y="2520197"/>
            <a:ext cx="2406551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008226"/>
            <a:ext cx="2388289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78160" y="2522576"/>
            <a:ext cx="2396873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005847"/>
            <a:ext cx="2396226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2520197"/>
            <a:ext cx="2396226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58371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457200"/>
            <a:ext cx="7429499" cy="14287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3303447"/>
            <a:ext cx="2396430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000249"/>
            <a:ext cx="2396430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3735644"/>
            <a:ext cx="2396430" cy="61338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3303447"/>
            <a:ext cx="2400300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000249"/>
            <a:ext cx="2399205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3735643"/>
            <a:ext cx="2400300" cy="60775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3303446"/>
            <a:ext cx="2393056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000249"/>
            <a:ext cx="2396227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3735641"/>
            <a:ext cx="2396226" cy="60775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52479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74831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457200"/>
            <a:ext cx="1503758" cy="38862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457200"/>
            <a:ext cx="5811443" cy="38862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0161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8614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0716" y="0"/>
            <a:ext cx="9040416" cy="51435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463888"/>
            <a:ext cx="7429499" cy="11089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1687115"/>
            <a:ext cx="7429499" cy="26562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5/4/26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50185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" y="662940"/>
            <a:ext cx="76809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31520" y="640080"/>
            <a:ext cx="164592" cy="384048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188720" y="86868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FinTrend AI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188720" y="19202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Intelligence Platform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242316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Trend Analysis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88720" y="2880360"/>
            <a:ext cx="64008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188720" y="299923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Rithvik |  Sai Keerthika  |  Manasvi |  Vennela| Amarnath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331012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Rithvik Konakala   |   SRM University – AP   |   GenAI-II Course Project   |  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we build FinTrend AI?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61288"/>
            <a:ext cx="329184" cy="329184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161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1143000"/>
            <a:ext cx="7955280" cy="384048"/>
          </a:xfrm>
          <a:prstGeom prst="rect">
            <a:avLst/>
          </a:prstGeom>
          <a:solidFill>
            <a:srgbClr val="EBF3FB"/>
          </a:solidFill>
          <a:ln w="635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60120" y="1179576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datasets are huge — finding trends manually is time-consuming and error-prone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329184" cy="329184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1856232"/>
            <a:ext cx="7955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60120" y="189280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financial news is unstructured — hard to extract meaningful signals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587752"/>
            <a:ext cx="329184" cy="329184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65760" y="2587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2569464"/>
            <a:ext cx="7955280" cy="384048"/>
          </a:xfrm>
          <a:prstGeom prst="rect">
            <a:avLst/>
          </a:prstGeom>
          <a:solidFill>
            <a:srgbClr val="EBF3FB"/>
          </a:solidFill>
          <a:ln w="635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60120" y="26060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across sessions — analysts start from scratch every time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300984"/>
            <a:ext cx="329184" cy="329184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65760" y="3300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3282696"/>
            <a:ext cx="7955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60120" y="331927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are siloed — spreadsheets, news aggregators &amp; AI assistants don't talk to each other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014216"/>
            <a:ext cx="329184" cy="329184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65760" y="4014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" y="3995928"/>
            <a:ext cx="7955280" cy="384048"/>
          </a:xfrm>
          <a:prstGeom prst="rect">
            <a:avLst/>
          </a:prstGeom>
          <a:solidFill>
            <a:srgbClr val="EBF3FB"/>
          </a:solidFill>
          <a:ln w="635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960120" y="4032504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writing is manual — slow and inconsistent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clear need for a unified, intelligent financial analysis platform.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FinTrend AI?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AI-driven financial intelligence platform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FinTrend AI transforms raw financial datasets + web content into structured analyst-grade reports — in under 60 seconds.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1920240" cy="2926080"/>
          </a:xfrm>
          <a:prstGeom prst="rect">
            <a:avLst/>
          </a:prstGeom>
          <a:solidFill>
            <a:schemeClr val="bg1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1920240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8" name="Text 6"/>
          <p:cNvSpPr/>
          <p:nvPr/>
        </p:nvSpPr>
        <p:spPr>
          <a:xfrm>
            <a:off x="105156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38912" y="248716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Analysis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999232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Pandas engine computes trend direction,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volatility, moving averages &amp; anomalies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87168" y="1737360"/>
            <a:ext cx="1920240" cy="2926080"/>
          </a:xfrm>
          <a:prstGeom prst="rect">
            <a:avLst/>
          </a:prstGeom>
          <a:solidFill>
            <a:schemeClr val="bg1"/>
          </a:solidFill>
          <a:ln w="12700">
            <a:solidFill>
              <a:srgbClr val="0084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487168" y="1737360"/>
            <a:ext cx="1920240" cy="73152"/>
          </a:xfrm>
          <a:prstGeom prst="rect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3" name="Text 11"/>
          <p:cNvSpPr/>
          <p:nvPr/>
        </p:nvSpPr>
        <p:spPr>
          <a:xfrm>
            <a:off x="3172968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60320" y="248716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Web Intelligence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78608" y="2999232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Firecrawl scrapes financial news URLs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and extracts market sentiment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08576" y="1737360"/>
            <a:ext cx="1920240" cy="2926080"/>
          </a:xfrm>
          <a:prstGeom prst="rect">
            <a:avLst/>
          </a:prstGeom>
          <a:solidFill>
            <a:schemeClr val="bg1"/>
          </a:solidFill>
          <a:ln w="12700">
            <a:solidFill>
              <a:srgbClr val="7B3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608576" y="1737360"/>
            <a:ext cx="1920240" cy="73152"/>
          </a:xfrm>
          <a:prstGeom prst="rect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8" name="Text 16"/>
          <p:cNvSpPr/>
          <p:nvPr/>
        </p:nvSpPr>
        <p:spPr>
          <a:xfrm>
            <a:off x="5294376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681728" y="248716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Memento Memory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00016" y="2999232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FAISS + SQLite remembers past analyses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and surfaces repeated risk signals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29984" y="1737360"/>
            <a:ext cx="1920240" cy="2926080"/>
          </a:xfrm>
          <a:prstGeom prst="rect">
            <a:avLst/>
          </a:prstGeom>
          <a:solidFill>
            <a:schemeClr val="bg1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729984" y="1737360"/>
            <a:ext cx="1920240" cy="73152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3" name="Text 21"/>
          <p:cNvSpPr/>
          <p:nvPr/>
        </p:nvSpPr>
        <p:spPr>
          <a:xfrm>
            <a:off x="7415784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803136" y="248716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 Report Generation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21424" y="2999232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synthesizes everything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into a validated JSON report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technologies used in FinTrend AI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606040" cy="3840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35608"/>
            <a:ext cx="2606040" cy="3429000"/>
          </a:xfrm>
          <a:prstGeom prst="rect">
            <a:avLst/>
          </a:prstGeom>
          <a:solidFill>
            <a:schemeClr val="bg1"/>
          </a:solidFill>
          <a:ln w="9525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8" name="Shape 6"/>
          <p:cNvSpPr/>
          <p:nvPr/>
        </p:nvSpPr>
        <p:spPr>
          <a:xfrm>
            <a:off x="530352" y="1627632"/>
            <a:ext cx="91440" cy="91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9" name="Text 7"/>
          <p:cNvSpPr/>
          <p:nvPr/>
        </p:nvSpPr>
        <p:spPr>
          <a:xfrm>
            <a:off x="713232" y="15361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App Router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0352" y="2157984"/>
            <a:ext cx="91440" cy="91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11" name="Text 9"/>
          <p:cNvSpPr/>
          <p:nvPr/>
        </p:nvSpPr>
        <p:spPr>
          <a:xfrm>
            <a:off x="713232" y="20665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Three.js WebGL (r160)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" y="2688336"/>
            <a:ext cx="91440" cy="91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13" name="Text 11"/>
          <p:cNvSpPr/>
          <p:nvPr/>
        </p:nvSpPr>
        <p:spPr>
          <a:xfrm>
            <a:off x="713232" y="259689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GSAP 3 + ScrollTrigger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0352" y="3218688"/>
            <a:ext cx="91440" cy="91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15" name="Text 13"/>
          <p:cNvSpPr/>
          <p:nvPr/>
        </p:nvSpPr>
        <p:spPr>
          <a:xfrm>
            <a:off x="713232" y="31272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Lenis Smooth Scroll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0352" y="3749040"/>
            <a:ext cx="91440" cy="91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17" name="Text 15"/>
          <p:cNvSpPr/>
          <p:nvPr/>
        </p:nvSpPr>
        <p:spPr>
          <a:xfrm>
            <a:off x="713232" y="3657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Recharts 2.x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0352" y="4279392"/>
            <a:ext cx="91440" cy="91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19" name="Text 17"/>
          <p:cNvSpPr/>
          <p:nvPr/>
        </p:nvSpPr>
        <p:spPr>
          <a:xfrm>
            <a:off x="713232" y="41879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Zustand + TanStack Query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0" y="1051560"/>
            <a:ext cx="2606040" cy="384048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84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200400" y="10515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0" y="1435608"/>
            <a:ext cx="2606040" cy="3429000"/>
          </a:xfrm>
          <a:prstGeom prst="rect">
            <a:avLst/>
          </a:prstGeom>
          <a:solidFill>
            <a:schemeClr val="bg1"/>
          </a:solidFill>
          <a:ln w="9525">
            <a:solidFill>
              <a:srgbClr val="00843D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23" name="Shape 21"/>
          <p:cNvSpPr/>
          <p:nvPr/>
        </p:nvSpPr>
        <p:spPr>
          <a:xfrm>
            <a:off x="3364992" y="1627632"/>
            <a:ext cx="91440" cy="91440"/>
          </a:xfrm>
          <a:prstGeom prst="rect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24" name="Text 22"/>
          <p:cNvSpPr/>
          <p:nvPr/>
        </p:nvSpPr>
        <p:spPr>
          <a:xfrm>
            <a:off x="3547872" y="15361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FastAPI 0.111 (async)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64992" y="2157984"/>
            <a:ext cx="91440" cy="91440"/>
          </a:xfrm>
          <a:prstGeom prst="rect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26" name="Text 24"/>
          <p:cNvSpPr/>
          <p:nvPr/>
        </p:nvSpPr>
        <p:spPr>
          <a:xfrm>
            <a:off x="3547872" y="20665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3.11+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364992" y="2688336"/>
            <a:ext cx="91440" cy="91440"/>
          </a:xfrm>
          <a:prstGeom prst="rect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28" name="Text 26"/>
          <p:cNvSpPr/>
          <p:nvPr/>
        </p:nvSpPr>
        <p:spPr>
          <a:xfrm>
            <a:off x="3547872" y="259689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Pandas 2.2 + SciPy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64992" y="3218688"/>
            <a:ext cx="91440" cy="91440"/>
          </a:xfrm>
          <a:prstGeom prst="rect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30" name="Text 28"/>
          <p:cNvSpPr/>
          <p:nvPr/>
        </p:nvSpPr>
        <p:spPr>
          <a:xfrm>
            <a:off x="3547872" y="31272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aiosqlite / SQLite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364992" y="3749040"/>
            <a:ext cx="91440" cy="91440"/>
          </a:xfrm>
          <a:prstGeom prst="rect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32" name="Text 30"/>
          <p:cNvSpPr/>
          <p:nvPr/>
        </p:nvSpPr>
        <p:spPr>
          <a:xfrm>
            <a:off x="3547872" y="3657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APScheduler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364992" y="4279392"/>
            <a:ext cx="91440" cy="91440"/>
          </a:xfrm>
          <a:prstGeom prst="rect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34" name="Text 32"/>
          <p:cNvSpPr/>
          <p:nvPr/>
        </p:nvSpPr>
        <p:spPr>
          <a:xfrm>
            <a:off x="3547872" y="41879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slowapi (rate limiting)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035040" y="1051560"/>
            <a:ext cx="2606040" cy="384048"/>
          </a:xfrm>
          <a:prstGeom prst="rect">
            <a:avLst/>
          </a:prstGeom>
          <a:solidFill>
            <a:schemeClr val="accent1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035040" y="10515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035040" y="1435608"/>
            <a:ext cx="2606040" cy="3429000"/>
          </a:xfrm>
          <a:prstGeom prst="rect">
            <a:avLst/>
          </a:prstGeom>
          <a:solidFill>
            <a:schemeClr val="bg1"/>
          </a:solidFill>
          <a:ln w="9525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38" name="Shape 36"/>
          <p:cNvSpPr/>
          <p:nvPr/>
        </p:nvSpPr>
        <p:spPr>
          <a:xfrm>
            <a:off x="6199632" y="1627632"/>
            <a:ext cx="91440" cy="91440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39" name="Text 37"/>
          <p:cNvSpPr/>
          <p:nvPr/>
        </p:nvSpPr>
        <p:spPr>
          <a:xfrm>
            <a:off x="6382512" y="15361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Sonnet 4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199632" y="2157984"/>
            <a:ext cx="91440" cy="91440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41" name="Text 39"/>
          <p:cNvSpPr/>
          <p:nvPr/>
        </p:nvSpPr>
        <p:spPr>
          <a:xfrm>
            <a:off x="6382512" y="20665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199632" y="2688336"/>
            <a:ext cx="91440" cy="91440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43" name="Text 41"/>
          <p:cNvSpPr/>
          <p:nvPr/>
        </p:nvSpPr>
        <p:spPr>
          <a:xfrm>
            <a:off x="6382512" y="259689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IndexFlatIP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199632" y="3218688"/>
            <a:ext cx="91440" cy="91440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45" name="Text 43"/>
          <p:cNvSpPr/>
          <p:nvPr/>
        </p:nvSpPr>
        <p:spPr>
          <a:xfrm>
            <a:off x="6382512" y="31272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Firecrawl Python SDK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199632" y="3749040"/>
            <a:ext cx="91440" cy="91440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47" name="Text 45"/>
          <p:cNvSpPr/>
          <p:nvPr/>
        </p:nvSpPr>
        <p:spPr>
          <a:xfrm>
            <a:off x="6382512" y="3657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Pydantic v2 schemas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199632" y="4279392"/>
            <a:ext cx="91440" cy="91440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49" name="Text 47"/>
          <p:cNvSpPr/>
          <p:nvPr/>
        </p:nvSpPr>
        <p:spPr>
          <a:xfrm>
            <a:off x="6382512" y="41879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backoff retry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API keys are stored server-side only — never exposed to the browser.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core capabilities of the platform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069080" cy="804672"/>
          </a:xfrm>
          <a:prstGeom prst="rect">
            <a:avLst/>
          </a:prstGeom>
          <a:solidFill>
            <a:srgbClr val="EBF3FB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54864" cy="8046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Ingest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4447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CSV/XLSX upload, 10MB limit, column detection &amp; 5-row preview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069080" cy="804672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54864" cy="8046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46320" y="11612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Engine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4447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direction, volatility, moving averages, anomaly z-score &amp; risk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039112"/>
            <a:ext cx="4069080" cy="804672"/>
          </a:xfrm>
          <a:prstGeom prst="rect">
            <a:avLst/>
          </a:prstGeom>
          <a:solidFill>
            <a:srgbClr val="EBF3FB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65760" y="2039112"/>
            <a:ext cx="54864" cy="8046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2103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Intelligence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238658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Firecrawl scrapes up to 5 URLs, extracts sentiment &amp; themes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039112"/>
            <a:ext cx="4069080" cy="804672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663440" y="2039112"/>
            <a:ext cx="54864" cy="8046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46320" y="2103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Memento Memory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38658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FAISS persists signals across sessions; top-5 retrieval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2980944"/>
            <a:ext cx="4069080" cy="804672"/>
          </a:xfrm>
          <a:prstGeom prst="rect">
            <a:avLst/>
          </a:prstGeom>
          <a:solidFill>
            <a:srgbClr val="EBF3FB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65760" y="2980944"/>
            <a:ext cx="54864" cy="8046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48640" y="3044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Synthesis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332841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generates Pydantic-validated StructuredReport JSON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2980944"/>
            <a:ext cx="4069080" cy="804672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663440" y="2980944"/>
            <a:ext cx="54864" cy="8046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46320" y="3044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332841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Async, rate-limited (30 req/min), full OpenAPI documentation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3922776"/>
            <a:ext cx="4069080" cy="804672"/>
          </a:xfrm>
          <a:prstGeom prst="rect">
            <a:avLst/>
          </a:prstGeom>
          <a:solidFill>
            <a:srgbClr val="EBF3FB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65760" y="3922776"/>
            <a:ext cx="54864" cy="8046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48640" y="39867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Frontend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42702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particle field, GSAP animations, custom canvas cursor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63440" y="3922776"/>
            <a:ext cx="4069080" cy="804672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663440" y="3922776"/>
            <a:ext cx="54864" cy="8046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846320" y="39867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46320" y="42702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&gt;= 90, LCP &lt; 2.5s, FAISS 10k+ vectors in &lt; 8ms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Memento Memory Layer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FinTrend AI's defining innovation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one-shot AI tools, FinTrend AI remembers past analyses and detects repeated signals over time.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45336"/>
            <a:ext cx="292608" cy="29260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7" name="Text 5"/>
          <p:cNvSpPr/>
          <p:nvPr/>
        </p:nvSpPr>
        <p:spPr>
          <a:xfrm>
            <a:off x="365760" y="1545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15361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00200" y="15361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analysis snapshot saved: trend, risk, signals + FAISS embedding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03704"/>
            <a:ext cx="292608" cy="29260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11" name="Text 9"/>
          <p:cNvSpPr/>
          <p:nvPr/>
        </p:nvSpPr>
        <p:spPr>
          <a:xfrm>
            <a:off x="365760" y="2203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21945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00200" y="2194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 MiniLM-L6-v2 creates 384-dim vectors per snapshot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862072"/>
            <a:ext cx="292608" cy="29260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15" name="Text 13"/>
          <p:cNvSpPr/>
          <p:nvPr/>
        </p:nvSpPr>
        <p:spPr>
          <a:xfrm>
            <a:off x="365760" y="2862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28529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00200" y="28529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cosine similarity search returns top-5 relevant past snapshots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520440"/>
            <a:ext cx="292608" cy="29260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19" name="Text 17"/>
          <p:cNvSpPr/>
          <p:nvPr/>
        </p:nvSpPr>
        <p:spPr>
          <a:xfrm>
            <a:off x="36576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77240" y="35112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00200" y="351129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context injected into Claude LLM prompt for richer reports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178808"/>
            <a:ext cx="292608" cy="29260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23" name="Text 21"/>
          <p:cNvSpPr/>
          <p:nvPr/>
        </p:nvSpPr>
        <p:spPr>
          <a:xfrm>
            <a:off x="365760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7240" y="4169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600200" y="416966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signals flagged when found in 3+ snapshots within 90 days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0" y="1417320"/>
            <a:ext cx="3749040" cy="361188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27" name="Shape 25"/>
          <p:cNvSpPr/>
          <p:nvPr/>
        </p:nvSpPr>
        <p:spPr>
          <a:xfrm>
            <a:off x="5029200" y="1417320"/>
            <a:ext cx="3749040" cy="3840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28" name="Text 26"/>
          <p:cNvSpPr/>
          <p:nvPr/>
        </p:nvSpPr>
        <p:spPr>
          <a:xfrm>
            <a:off x="5029200" y="14173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Details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166360" y="1920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166360" y="215798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via aiosqlite — analysis_runs &amp; memento_snapshots tables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66360" y="24505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DB: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166360" y="268833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IndexFlatIP — rebuilt from SQLite on cold start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66360" y="29809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Embeddings: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166360" y="321868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384-dim MiniLM vectors, L2 normalized for cosine similarity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66360" y="35112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166360" y="374904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8ms similarity search across 10,000 vectors in memory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66360" y="40416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Persistence: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166360" y="42793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restarts — disk-backed SQLite + FAISS index file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all layers connect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685800"/>
          </a:xfrm>
          <a:prstGeom prst="rect">
            <a:avLst/>
          </a:prstGeom>
          <a:solidFill>
            <a:srgbClr val="EBF3FB"/>
          </a:solidFill>
          <a:ln w="9525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73152" cy="6858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436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—  Next.js 14 + Three.js + GSAP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380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· Analyze · Reports · Memory pages   |   Zustand + TanStack Query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0" y="173736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847088"/>
            <a:ext cx="8412480" cy="685800"/>
          </a:xfrm>
          <a:prstGeom prst="rect">
            <a:avLst/>
          </a:prstGeom>
          <a:solidFill>
            <a:srgbClr val="F2F2F2"/>
          </a:solidFill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5760" y="1847088"/>
            <a:ext cx="73152" cy="68580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94360" y="1892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Proxy  —  Next.js Route Handler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1762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Injects X-API-Key server-side  |  Key is never exposed in browser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97680" y="2532888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642616"/>
            <a:ext cx="8412480" cy="685800"/>
          </a:xfrm>
          <a:prstGeom prst="rect">
            <a:avLst/>
          </a:prstGeom>
          <a:solidFill>
            <a:schemeClr val="tx1"/>
          </a:solidFill>
          <a:ln w="9525">
            <a:solidFill>
              <a:srgbClr val="0084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65760" y="2642616"/>
            <a:ext cx="73152" cy="685800"/>
          </a:xfrm>
          <a:prstGeom prst="rect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94360" y="2688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 —  FastAPI + Python 3.11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2971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Routers: datasets · analysis · memento   |   asyncio.gather() for parallelism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97680" y="3328416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438144"/>
            <a:ext cx="8412480" cy="685800"/>
          </a:xfrm>
          <a:prstGeom prst="rect">
            <a:avLst/>
          </a:prstGeom>
          <a:solidFill>
            <a:schemeClr val="tx1"/>
          </a:solidFill>
          <a:ln w="9525">
            <a:solidFill>
              <a:srgbClr val="7B3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65760" y="3438144"/>
            <a:ext cx="73152" cy="685800"/>
          </a:xfrm>
          <a:prstGeom prst="rect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94360" y="34838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  —  Pandas + Firecrawl + Claude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37673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  ·  Web scraping  ·  LLM synthesis  ·  FAISS retrieval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97680" y="4123944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4233672"/>
            <a:ext cx="8412480" cy="685800"/>
          </a:xfrm>
          <a:prstGeom prst="rect">
            <a:avLst/>
          </a:prstGeom>
          <a:solidFill>
            <a:schemeClr val="tx1"/>
          </a:solidFill>
          <a:ln w="9525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65760" y="4233672"/>
            <a:ext cx="73152" cy="685800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94360" y="4279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0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 —  SQLite + FAISS + JSON files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45628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memento.db  ·  memento.faiss  ·  data/reports/{id}.json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Results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targets met — and exceeded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3657600" cy="384048"/>
          </a:xfrm>
          <a:prstGeom prst="rect">
            <a:avLst/>
          </a:prstGeom>
          <a:solidFill>
            <a:srgbClr val="1F4E79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38912" y="10789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023360" y="1078992"/>
            <a:ext cx="1645920" cy="384048"/>
          </a:xfrm>
          <a:prstGeom prst="rect">
            <a:avLst/>
          </a:prstGeom>
          <a:solidFill>
            <a:srgbClr val="1F4E79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096512" y="107899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0" y="1078992"/>
            <a:ext cx="1645920" cy="384048"/>
          </a:xfrm>
          <a:prstGeom prst="rect">
            <a:avLst/>
          </a:prstGeom>
          <a:solidFill>
            <a:srgbClr val="1F4E79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742432" y="107899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0" y="1078992"/>
            <a:ext cx="1463040" cy="384048"/>
          </a:xfrm>
          <a:prstGeom prst="rect">
            <a:avLst/>
          </a:prstGeom>
          <a:solidFill>
            <a:srgbClr val="1F4E79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388352" y="107899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463040"/>
            <a:ext cx="3657600" cy="384048"/>
          </a:xfrm>
          <a:prstGeom prst="rect">
            <a:avLst/>
          </a:prstGeom>
          <a:solidFill>
            <a:srgbClr val="EBF3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38912" y="14630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analysis (5,000 rows)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023360" y="1463040"/>
            <a:ext cx="1645920" cy="384048"/>
          </a:xfrm>
          <a:prstGeom prst="rect">
            <a:avLst/>
          </a:prstGeom>
          <a:solidFill>
            <a:srgbClr val="EBF3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096512" y="14630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sec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0" y="1463040"/>
            <a:ext cx="1645920" cy="384048"/>
          </a:xfrm>
          <a:prstGeom prst="rect">
            <a:avLst/>
          </a:prstGeom>
          <a:solidFill>
            <a:srgbClr val="EBF3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742432" y="14630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8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sec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0" y="1463040"/>
            <a:ext cx="1463040" cy="384048"/>
          </a:xfrm>
          <a:prstGeom prst="rect">
            <a:avLst/>
          </a:prstGeom>
          <a:solidFill>
            <a:srgbClr val="E2EFD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388352" y="14630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Pass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1847088"/>
            <a:ext cx="3657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38912" y="18470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Firecrawl scraping (5 URLs)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023360" y="1847088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096512" y="18470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 sec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0" y="1847088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742432" y="18470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8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 sec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315200" y="1847088"/>
            <a:ext cx="1463040" cy="384048"/>
          </a:xfrm>
          <a:prstGeom prst="rect">
            <a:avLst/>
          </a:prstGeom>
          <a:solidFill>
            <a:srgbClr val="E2EFD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388352" y="18470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Pass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2231136"/>
            <a:ext cx="3657600" cy="384048"/>
          </a:xfrm>
          <a:prstGeom prst="rect">
            <a:avLst/>
          </a:prstGeom>
          <a:solidFill>
            <a:srgbClr val="EBF3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38912" y="223113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report generation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023360" y="2231136"/>
            <a:ext cx="1645920" cy="384048"/>
          </a:xfrm>
          <a:prstGeom prst="rect">
            <a:avLst/>
          </a:prstGeom>
          <a:solidFill>
            <a:srgbClr val="EBF3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096512" y="223113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 sec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669280" y="2231136"/>
            <a:ext cx="1645920" cy="384048"/>
          </a:xfrm>
          <a:prstGeom prst="rect">
            <a:avLst/>
          </a:prstGeom>
          <a:solidFill>
            <a:srgbClr val="EBF3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742432" y="223113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8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 sec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315200" y="2231136"/>
            <a:ext cx="1463040" cy="384048"/>
          </a:xfrm>
          <a:prstGeom prst="rect">
            <a:avLst/>
          </a:prstGeom>
          <a:solidFill>
            <a:srgbClr val="E2EFD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7388352" y="223113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Pass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65760" y="2615184"/>
            <a:ext cx="3657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38912" y="261518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pipeline (end-to-end)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023360" y="2615184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096512" y="261518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60 sec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669280" y="2615184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742432" y="261518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8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 sec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315200" y="2615184"/>
            <a:ext cx="1463040" cy="384048"/>
          </a:xfrm>
          <a:prstGeom prst="rect">
            <a:avLst/>
          </a:prstGeom>
          <a:solidFill>
            <a:srgbClr val="E2EFD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7388352" y="26151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Pass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65760" y="2999232"/>
            <a:ext cx="3657600" cy="384048"/>
          </a:xfrm>
          <a:prstGeom prst="rect">
            <a:avLst/>
          </a:prstGeom>
          <a:solidFill>
            <a:srgbClr val="EBF3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38912" y="299923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LCP (desktop)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023360" y="2999232"/>
            <a:ext cx="1645920" cy="384048"/>
          </a:xfrm>
          <a:prstGeom prst="rect">
            <a:avLst/>
          </a:prstGeom>
          <a:solidFill>
            <a:srgbClr val="EBF3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4096512" y="299923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2.5 sec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669280" y="2999232"/>
            <a:ext cx="1645920" cy="384048"/>
          </a:xfrm>
          <a:prstGeom prst="rect">
            <a:avLst/>
          </a:prstGeom>
          <a:solidFill>
            <a:srgbClr val="EBF3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5742432" y="299923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8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~1.8 sec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315200" y="2999232"/>
            <a:ext cx="1463040" cy="384048"/>
          </a:xfrm>
          <a:prstGeom prst="rect">
            <a:avLst/>
          </a:prstGeom>
          <a:solidFill>
            <a:srgbClr val="E2EFD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7388352" y="29992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Pass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365760" y="3383280"/>
            <a:ext cx="3657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438912" y="33832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LCP (mobile 4G)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023360" y="3383280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4096512" y="33832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3.5 sec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5669280" y="3383280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5742432" y="33832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8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~2.9 sec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7315200" y="3383280"/>
            <a:ext cx="1463040" cy="384048"/>
          </a:xfrm>
          <a:prstGeom prst="rect">
            <a:avLst/>
          </a:prstGeom>
          <a:solidFill>
            <a:srgbClr val="E2EFD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7388352" y="33832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Pass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365760" y="3767328"/>
            <a:ext cx="3657600" cy="384048"/>
          </a:xfrm>
          <a:prstGeom prst="rect">
            <a:avLst/>
          </a:prstGeom>
          <a:solidFill>
            <a:srgbClr val="EBF3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438912" y="37673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Layout Shift (CLS)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023360" y="3767328"/>
            <a:ext cx="1645920" cy="384048"/>
          </a:xfrm>
          <a:prstGeom prst="rect">
            <a:avLst/>
          </a:prstGeom>
          <a:solidFill>
            <a:srgbClr val="EBF3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4096512" y="376732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0.1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5669280" y="3767328"/>
            <a:ext cx="1645920" cy="384048"/>
          </a:xfrm>
          <a:prstGeom prst="rect">
            <a:avLst/>
          </a:prstGeom>
          <a:solidFill>
            <a:srgbClr val="EBF3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5742432" y="376732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8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7315200" y="3767328"/>
            <a:ext cx="1463040" cy="384048"/>
          </a:xfrm>
          <a:prstGeom prst="rect">
            <a:avLst/>
          </a:prstGeom>
          <a:solidFill>
            <a:srgbClr val="E2EFD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7388352" y="37673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Pass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365760" y="4151376"/>
            <a:ext cx="3657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438912" y="415137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Performance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4023360" y="4151376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4096512" y="415137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 90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5669280" y="4151376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5742432" y="415137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8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7315200" y="4151376"/>
            <a:ext cx="1463040" cy="384048"/>
          </a:xfrm>
          <a:prstGeom prst="rect">
            <a:avLst/>
          </a:prstGeom>
          <a:solidFill>
            <a:srgbClr val="E2EFD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7388352" y="415137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Pass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365760" y="4535424"/>
            <a:ext cx="3657600" cy="384048"/>
          </a:xfrm>
          <a:prstGeom prst="rect">
            <a:avLst/>
          </a:prstGeom>
          <a:solidFill>
            <a:srgbClr val="EBF3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438912" y="453542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search (10k vectors)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4023360" y="4535424"/>
            <a:ext cx="1645920" cy="384048"/>
          </a:xfrm>
          <a:prstGeom prst="rect">
            <a:avLst/>
          </a:prstGeom>
          <a:solidFill>
            <a:srgbClr val="EBF3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4096512" y="453542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100ms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5669280" y="4535424"/>
            <a:ext cx="1645920" cy="384048"/>
          </a:xfrm>
          <a:prstGeom prst="rect">
            <a:avLst/>
          </a:prstGeom>
          <a:solidFill>
            <a:srgbClr val="EBF3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5742432" y="453542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8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~8ms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7315200" y="4535424"/>
            <a:ext cx="1463040" cy="384048"/>
          </a:xfrm>
          <a:prstGeom prst="rect">
            <a:avLst/>
          </a:prstGeom>
          <a:solidFill>
            <a:srgbClr val="E2EFD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82"/>
          <p:cNvSpPr/>
          <p:nvPr/>
        </p:nvSpPr>
        <p:spPr>
          <a:xfrm>
            <a:off x="7388352" y="453542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Pass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 Cases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practical scenarios where FinTrend AI adds value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069080" cy="178308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06908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1: Equity Trend Analysis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536192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manager uploads NIFTY50 weekly data. FinTrend detects bearish trend, flags 3 anomalous weeks, scrapes financial news, and surfaces a repeated 'institutional selling' signal from 4 prior Memento runs.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078992"/>
            <a:ext cx="4069080" cy="1783080"/>
          </a:xfrm>
          <a:prstGeom prst="rect">
            <a:avLst/>
          </a:prstGeom>
          <a:solidFill>
            <a:srgbClr val="E8F5E9"/>
          </a:solidFill>
          <a:ln w="12700">
            <a:solidFill>
              <a:srgbClr val="0084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663440" y="1078992"/>
            <a:ext cx="4069080" cy="54864"/>
          </a:xfrm>
          <a:prstGeom prst="rect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00600" y="11887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2: Sector Rotation Study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536192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 analyzes banking index data monthly. Memento detects 8 consecutive bullish months and flags risk escalating from medium to high over the last 3 runs.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072384"/>
            <a:ext cx="4069080" cy="1783080"/>
          </a:xfrm>
          <a:prstGeom prst="rect">
            <a:avLst/>
          </a:prstGeom>
          <a:solidFill>
            <a:srgbClr val="FFF3E0"/>
          </a:solidFill>
          <a:ln w="12700">
            <a:solidFill>
              <a:srgbClr val="7B3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65760" y="3072384"/>
            <a:ext cx="4069080" cy="54864"/>
          </a:xfrm>
          <a:prstGeom prst="rect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02920" y="31821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3: Macro Indicator Monitoring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529584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uploads CPI data. FinTrend computes MoM and YoY changes, scrapes central bank pages, and produces a report with negative sentiment and portfolio positioning takeaways.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3072384"/>
            <a:ext cx="4069080" cy="1783080"/>
          </a:xfrm>
          <a:prstGeom prst="rect">
            <a:avLst/>
          </a:prstGeom>
          <a:solidFill>
            <a:srgbClr val="F3E5F5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663440" y="3072384"/>
            <a:ext cx="4069080" cy="54864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00600" y="31821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0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4: Hackathon / Demo Showcase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3529584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visits live URL. Landing page loads with Three.js particle field and character-reveal animations. Pre-loaded demo dataset enables one-click report in under 60 seconds.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Limitations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look at what FinTrend AI does well — and what's planned for v2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069080" cy="365760"/>
          </a:xfrm>
          <a:prstGeom prst="rect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81328"/>
            <a:ext cx="4069080" cy="438912"/>
          </a:xfrm>
          <a:prstGeom prst="rect">
            <a:avLst/>
          </a:prstGeom>
          <a:solidFill>
            <a:srgbClr val="E2EFD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Longitudinal memory — detects repeated signals across sessions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993392"/>
            <a:ext cx="4069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203911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Unified pipeline — quant + qualitative + LLM in one API call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505456"/>
            <a:ext cx="4069080" cy="438912"/>
          </a:xfrm>
          <a:prstGeom prst="rect">
            <a:avLst/>
          </a:prstGeom>
          <a:solidFill>
            <a:srgbClr val="E2EFD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02920" y="255117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Zero-cost embeddings — runs locally, no API charges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4069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02920" y="30632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Production security — API proxy, rate limiting, input sanitization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529584"/>
            <a:ext cx="4069080" cy="438912"/>
          </a:xfrm>
          <a:prstGeom prst="rect">
            <a:avLst/>
          </a:prstGeom>
          <a:solidFill>
            <a:srgbClr val="E2EFD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" y="3575304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Premium frontend — Three.js + GSAP, award-studio quality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4041648"/>
            <a:ext cx="4069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02920" y="408736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Validated output — all numbers traced back to Pandas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1051560"/>
            <a:ext cx="4069080" cy="3657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663440" y="10515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(v1)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1481328"/>
            <a:ext cx="4069080" cy="438912"/>
          </a:xfrm>
          <a:prstGeom prst="rect">
            <a:avLst/>
          </a:prstGeom>
          <a:solidFill>
            <a:srgbClr val="FFDAD6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800600" y="152704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Single-user memory — no per-user isolation in v1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1993392"/>
            <a:ext cx="4069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800600" y="203911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Local filesystem — not suitable for horizontal scaling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2505456"/>
            <a:ext cx="4069080" cy="438912"/>
          </a:xfrm>
          <a:prstGeom prst="rect">
            <a:avLst/>
          </a:prstGeom>
          <a:solidFill>
            <a:srgbClr val="FFDAD6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800600" y="255117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Model warmup 3-5s — cold starts unsupported on serverless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3017520"/>
            <a:ext cx="4069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800600" y="30632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LLM API dependency — no offline fallback available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3529584"/>
            <a:ext cx="4069080" cy="438912"/>
          </a:xfrm>
          <a:prstGeom prst="rect">
            <a:avLst/>
          </a:prstGeom>
          <a:solidFill>
            <a:srgbClr val="FFDAD6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800600" y="3575304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Paywalled / JS-heavy sites may fail to scrape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improvements for v2 and beyond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069080" cy="171907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069080" cy="3657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0789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5361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Replace SQLite + FAISS with Pinecone or Weaviate for multi-instance deployment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21031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Add Redis for Firecrawl cache sharing across backend instances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78992"/>
            <a:ext cx="4069080" cy="1719072"/>
          </a:xfrm>
          <a:prstGeom prst="rect">
            <a:avLst/>
          </a:prstGeom>
          <a:solidFill>
            <a:schemeClr val="tx1"/>
          </a:solidFill>
          <a:ln w="12700">
            <a:solidFill>
              <a:srgbClr val="0084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63440" y="1078992"/>
            <a:ext cx="4069080" cy="365760"/>
          </a:xfrm>
          <a:prstGeom prst="rect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00600" y="10789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28032" y="15361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Per-user memory isolation with OAuth login (NextAuth.js)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28032" y="21031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Multi-asset comparison &amp; PDF report export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4069080" cy="1719072"/>
          </a:xfrm>
          <a:prstGeom prst="rect">
            <a:avLst/>
          </a:prstGeom>
          <a:solidFill>
            <a:schemeClr val="tx1"/>
          </a:solidFill>
          <a:ln w="12700">
            <a:solidFill>
              <a:srgbClr val="7B3F00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4069080" cy="365760"/>
          </a:xfrm>
          <a:prstGeom prst="rect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17" name="Text 15"/>
          <p:cNvSpPr/>
          <p:nvPr/>
        </p:nvSpPr>
        <p:spPr>
          <a:xfrm>
            <a:off x="502920" y="3017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Improvements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0352" y="34747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Fine-tuned financial domain embedding model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" y="404164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Claude vs GPT-4o comparison mode + Prophet time-series forecasting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017520"/>
            <a:ext cx="4069080" cy="1719072"/>
          </a:xfrm>
          <a:prstGeom prst="rect">
            <a:avLst/>
          </a:prstGeom>
          <a:solidFill>
            <a:schemeClr val="tx1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n-IN" sz="2000" dirty="0"/>
          </a:p>
        </p:txBody>
      </p:sp>
      <p:sp>
        <p:nvSpPr>
          <p:cNvPr id="21" name="Shape 19"/>
          <p:cNvSpPr/>
          <p:nvPr/>
        </p:nvSpPr>
        <p:spPr>
          <a:xfrm>
            <a:off x="4663440" y="3017520"/>
            <a:ext cx="4069080" cy="365760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22" name="Text 20"/>
          <p:cNvSpPr/>
          <p:nvPr/>
        </p:nvSpPr>
        <p:spPr>
          <a:xfrm>
            <a:off x="4800600" y="3017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28032" y="34747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Scheduled daily/weekly analysis with risk-level alerts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28032" y="404164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Slack / Notion / Google Sheets integration for export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04672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48640" y="457200"/>
            <a:ext cx="137160" cy="429768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960120" y="56692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60120" y="1078992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FinTrend AI demonstrates what's possible when you combine quantitative analysis,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intelligence, and large language models into a single unified pipeline.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0120" y="1783080"/>
            <a:ext cx="713232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60120" y="1993392"/>
            <a:ext cx="292608" cy="29260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60120" y="1993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19751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Memento Layer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2231136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defining innovation — detects repeated risk signals across sessions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60120" y="2743200"/>
            <a:ext cx="292608" cy="29260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60120" y="2743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71600" y="27249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60s Pipeline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2980944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CSV upload to a full analyst-grade report in under a minute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60120" y="3493008"/>
            <a:ext cx="292608" cy="29260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60120" y="3493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71600" y="3474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71600" y="3730752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rate limiting, error handling, CI/CD, Docker — all in place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60120" y="4206240"/>
            <a:ext cx="713232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74C8B-CBC5-54F7-47B2-DF1B93360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7F9D1EAD-26BF-6122-13DC-20A619D79463}"/>
              </a:ext>
            </a:extLst>
          </p:cNvPr>
          <p:cNvSpPr/>
          <p:nvPr/>
        </p:nvSpPr>
        <p:spPr>
          <a:xfrm>
            <a:off x="960120" y="56692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56F06F-293A-B84B-AF8E-20B536F7CFFD}"/>
              </a:ext>
            </a:extLst>
          </p:cNvPr>
          <p:cNvSpPr txBox="1"/>
          <p:nvPr/>
        </p:nvSpPr>
        <p:spPr>
          <a:xfrm>
            <a:off x="1848050" y="1785486"/>
            <a:ext cx="58473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THANK YOU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42686707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B9107298ACF54EAF021E41932E1306" ma:contentTypeVersion="5" ma:contentTypeDescription="Create a new document." ma:contentTypeScope="" ma:versionID="9d73665875cb9f04fa6290b0833475d2">
  <xsd:schema xmlns:xsd="http://www.w3.org/2001/XMLSchema" xmlns:xs="http://www.w3.org/2001/XMLSchema" xmlns:p="http://schemas.microsoft.com/office/2006/metadata/properties" xmlns:ns3="f3e2df27-f7ab-4f70-b54c-dee439631167" targetNamespace="http://schemas.microsoft.com/office/2006/metadata/properties" ma:root="true" ma:fieldsID="591b9e2e9e4867f7d801d90027e1d451" ns3:_="">
    <xsd:import namespace="f3e2df27-f7ab-4f70-b54c-dee43963116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e2df27-f7ab-4f70-b54c-dee43963116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18CF819-11C3-4E5D-8B18-7EA864F90A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3e2df27-f7ab-4f70-b54c-dee43963116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878074E-2055-4258-878E-A66AB02A260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98F8668-F4E0-40C7-B60C-2E506CE0346C}">
  <ds:schemaRefs>
    <ds:schemaRef ds:uri="http://purl.org/dc/dcmitype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elements/1.1/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f3e2df27-f7ab-4f70-b54c-dee43963116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255</TotalTime>
  <Words>1272</Words>
  <Application>Microsoft Macintosh PowerPoint</Application>
  <PresentationFormat>On-screen Show (16:9)</PresentationFormat>
  <Paragraphs>231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Tw Cen MT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FinTrend AI</dc:title>
  <dc:subject>PptxGenJS Presentation</dc:subject>
  <dc:creator>PptxGenJS</dc:creator>
  <cp:lastModifiedBy>Rithvik Pinjala</cp:lastModifiedBy>
  <cp:revision>5</cp:revision>
  <dcterms:created xsi:type="dcterms:W3CDTF">2026-05-01T06:16:58Z</dcterms:created>
  <dcterms:modified xsi:type="dcterms:W3CDTF">2026-05-04T18:31:01Z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0x01010034B9107298ACF54EAF021E41932E1306</vt:lpwstr>
  </property>
</Properties>
</file>